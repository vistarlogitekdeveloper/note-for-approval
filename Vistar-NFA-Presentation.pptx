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629107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6291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VISTAR LOGITEK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371600"/>
            <a:ext cx="3931920" cy="10616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41248" y="2514600"/>
            <a:ext cx="822960" cy="54864"/>
          </a:xfrm>
          <a:prstGeom prst="rect">
            <a:avLst/>
          </a:prstGeom>
          <a:ln/>
        </p:spPr>
      </p:sp>
      <p:sp>
        <p:nvSpPr>
          <p:cNvPr id="4" name="Text 1"/>
          <p:cNvSpPr/>
          <p:nvPr/>
        </p:nvSpPr>
        <p:spPr>
          <a:xfrm>
            <a:off x="841248" y="26974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spc="-150" kern="0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 for </a:t>
            </a:r>
            <a:pPr indent="0" marL="0">
              <a:buNone/>
            </a:pPr>
            <a:r>
              <a:rPr lang="en-US" sz="6600" b="1" spc="-15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841248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-30" kern="0" dirty="0">
                <a:solidFill>
                  <a:srgbClr val="B9B2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approval, on the record.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41248" y="4892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internal approval system  ·  Vistar Logitek Pvt. Ltd.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EE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r" indent="0" marL="0">
              <a:buNone/>
            </a:pPr>
            <a:r>
              <a:rPr lang="en-US" sz="1000" dirty="0">
                <a:solidFill>
                  <a:srgbClr val="7E7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1042416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 live in inboxes.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87452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9B2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note for approval travels as an email thread, a printout and a chat message. Nothing owns it, so nothing can be answered about it.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41248" y="2788920"/>
            <a:ext cx="3332378" cy="1371600"/>
          </a:xfrm>
          <a:prstGeom prst="roundRect">
            <a:avLst>
              <a:gd name="adj" fmla="val 6000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807208"/>
            <a:ext cx="41148" cy="1335024"/>
          </a:xfrm>
          <a:prstGeom prst="rect">
            <a:avLst/>
          </a:prstGeom>
          <a:solidFill>
            <a:srgbClr val="FB6F84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" y="2935224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single source of truth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60704" y="3319272"/>
            <a:ext cx="29483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current version is whichever inbox you open. Two people quote two different numbers.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29658" y="2788920"/>
            <a:ext cx="3332378" cy="1371600"/>
          </a:xfrm>
          <a:prstGeom prst="roundRect">
            <a:avLst>
              <a:gd name="adj" fmla="val 6000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9658" y="2807208"/>
            <a:ext cx="41148" cy="1335024"/>
          </a:xfrm>
          <a:prstGeom prst="rect">
            <a:avLst/>
          </a:prstGeom>
          <a:solidFill>
            <a:srgbClr val="FB6F84"/>
          </a:solidFill>
          <a:ln/>
        </p:spPr>
      </p:sp>
      <p:sp>
        <p:nvSpPr>
          <p:cNvPr id="11" name="Text 9"/>
          <p:cNvSpPr/>
          <p:nvPr/>
        </p:nvSpPr>
        <p:spPr>
          <a:xfrm>
            <a:off x="4649114" y="2935224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Invisible bottlenecks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49114" y="3319272"/>
            <a:ext cx="29483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Nobody can say whose desk a note sits on, or how long it has been there.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18069" y="2788920"/>
            <a:ext cx="3332378" cy="1371600"/>
          </a:xfrm>
          <a:prstGeom prst="roundRect">
            <a:avLst>
              <a:gd name="adj" fmla="val 6000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8069" y="2807208"/>
            <a:ext cx="41148" cy="1335024"/>
          </a:xfrm>
          <a:prstGeom prst="rect">
            <a:avLst/>
          </a:prstGeom>
          <a:solidFill>
            <a:srgbClr val="FB6F84"/>
          </a:solidFill>
          <a:ln/>
        </p:spPr>
      </p:sp>
      <p:sp>
        <p:nvSpPr>
          <p:cNvPr id="15" name="Text 13"/>
          <p:cNvSpPr/>
          <p:nvPr/>
        </p:nvSpPr>
        <p:spPr>
          <a:xfrm>
            <a:off x="8237525" y="2935224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audit trail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37525" y="3319272"/>
            <a:ext cx="29483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"Who approved this, and on what basis?" has no reliable answer months later.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1248" y="4398264"/>
            <a:ext cx="3332378" cy="1371600"/>
          </a:xfrm>
          <a:prstGeom prst="roundRect">
            <a:avLst>
              <a:gd name="adj" fmla="val 6000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4416552"/>
            <a:ext cx="41148" cy="1335024"/>
          </a:xfrm>
          <a:prstGeom prst="rect">
            <a:avLst/>
          </a:prstGeom>
          <a:solidFill>
            <a:srgbClr val="FB6F84"/>
          </a:solidFill>
          <a:ln/>
        </p:spPr>
      </p:sp>
      <p:sp>
        <p:nvSpPr>
          <p:cNvPr id="19" name="Text 17"/>
          <p:cNvSpPr/>
          <p:nvPr/>
        </p:nvSpPr>
        <p:spPr>
          <a:xfrm>
            <a:off x="1060704" y="4544568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Rejections without reasons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60704" y="4928616"/>
            <a:ext cx="29483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arrives as "please revise". The work restarts from zero.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29658" y="4398264"/>
            <a:ext cx="3332378" cy="1371600"/>
          </a:xfrm>
          <a:prstGeom prst="roundRect">
            <a:avLst>
              <a:gd name="adj" fmla="val 6000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29658" y="4416552"/>
            <a:ext cx="41148" cy="1335024"/>
          </a:xfrm>
          <a:prstGeom prst="rect">
            <a:avLst/>
          </a:prstGeom>
          <a:solidFill>
            <a:srgbClr val="FB6F84"/>
          </a:solidFill>
          <a:ln/>
        </p:spPr>
      </p:sp>
      <p:sp>
        <p:nvSpPr>
          <p:cNvPr id="23" name="Text 21"/>
          <p:cNvSpPr/>
          <p:nvPr/>
        </p:nvSpPr>
        <p:spPr>
          <a:xfrm>
            <a:off x="4649114" y="4544568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 get lost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649114" y="4928616"/>
            <a:ext cx="29483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forwarded mail is a single point of failure. One missed thread stalls a spend.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18069" y="4398264"/>
            <a:ext cx="3332378" cy="1371600"/>
          </a:xfrm>
          <a:prstGeom prst="roundRect">
            <a:avLst>
              <a:gd name="adj" fmla="val 6000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8069" y="4416552"/>
            <a:ext cx="41148" cy="1335024"/>
          </a:xfrm>
          <a:prstGeom prst="rect">
            <a:avLst/>
          </a:prstGeom>
          <a:solidFill>
            <a:srgbClr val="FB6F84"/>
          </a:solidFill>
          <a:ln/>
        </p:spPr>
      </p:sp>
      <p:sp>
        <p:nvSpPr>
          <p:cNvPr id="27" name="Text 25"/>
          <p:cNvSpPr/>
          <p:nvPr/>
        </p:nvSpPr>
        <p:spPr>
          <a:xfrm>
            <a:off x="8237525" y="4544568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record-keeping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37525" y="4928616"/>
            <a:ext cx="29483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Someone retypes the outcome into a document at the end, by hand.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EE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r" indent="0" marL="0">
              <a:buNone/>
            </a:pPr>
            <a:r>
              <a:rPr lang="en-US" sz="1000" dirty="0">
                <a:solidFill>
                  <a:srgbClr val="7E7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1042416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note. One route. </a:t>
            </a:r>
            <a:pPr indent="0" marL="0">
              <a:buNone/>
            </a:pPr>
            <a:r>
              <a:rPr lang="en-US" sz="3400" b="1" spc="-5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record.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8745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9B2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NFA is a web app where a note is raised once, routed through named approvers in order, decided with a reason on the record, and archived as a PDF with a complete trail.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41248" y="2926080"/>
            <a:ext cx="3320186" cy="1737360"/>
          </a:xfrm>
          <a:prstGeom prst="roundRect">
            <a:avLst>
              <a:gd name="adj" fmla="val 4737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944368"/>
            <a:ext cx="41148" cy="1700784"/>
          </a:xfrm>
          <a:prstGeom prst="rect">
            <a:avLst/>
          </a:prstGeom>
          <a:ln/>
        </p:spPr>
      </p:sp>
      <p:sp>
        <p:nvSpPr>
          <p:cNvPr id="7" name="Text 5"/>
          <p:cNvSpPr/>
          <p:nvPr/>
        </p:nvSpPr>
        <p:spPr>
          <a:xfrm>
            <a:off x="1060704" y="3072384"/>
            <a:ext cx="29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60704" y="3456432"/>
            <a:ext cx="293613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Purpose, objective, brief, benefit and cost impact — plus supporting files. The note gets a permanent number.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5754" y="2926080"/>
            <a:ext cx="3320186" cy="1737360"/>
          </a:xfrm>
          <a:prstGeom prst="roundRect">
            <a:avLst>
              <a:gd name="adj" fmla="val 4737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5754" y="2944368"/>
            <a:ext cx="41148" cy="1700784"/>
          </a:xfrm>
          <a:prstGeom prst="rect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4655210" y="3072384"/>
            <a:ext cx="29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55210" y="3456432"/>
            <a:ext cx="293613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the exact people who must approve, in the order they must approve. Up to eight levels per note.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30261" y="2926080"/>
            <a:ext cx="3320186" cy="1737360"/>
          </a:xfrm>
          <a:prstGeom prst="roundRect">
            <a:avLst>
              <a:gd name="adj" fmla="val 4737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30261" y="2944368"/>
            <a:ext cx="41148" cy="1700784"/>
          </a:xfrm>
          <a:prstGeom prst="rect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8249717" y="3072384"/>
            <a:ext cx="29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49717" y="3456432"/>
            <a:ext cx="293613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approver approves, rejects, or returns it for revision — always with a mandatory remark.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1248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is ever decided anonymously, and nothing is decided twice.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EE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r" indent="0" marL="0">
              <a:buNone/>
            </a:pPr>
            <a:r>
              <a:rPr lang="en-US" sz="1000" dirty="0">
                <a:solidFill>
                  <a:srgbClr val="7E7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1042416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note walks its own chain.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408176" y="2555748"/>
            <a:ext cx="1918640" cy="27432"/>
          </a:xfrm>
          <a:prstGeom prst="rect">
            <a:avLst/>
          </a:prstGeom>
          <a:ln/>
        </p:spPr>
      </p:sp>
      <p:sp>
        <p:nvSpPr>
          <p:cNvPr id="5" name="Shape 3"/>
          <p:cNvSpPr/>
          <p:nvPr/>
        </p:nvSpPr>
        <p:spPr>
          <a:xfrm>
            <a:off x="841248" y="22860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5352A"/>
          </a:solidFill>
          <a:ln w="1778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-118072" y="2962656"/>
            <a:ext cx="248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93744" y="2555748"/>
            <a:ext cx="1918640" cy="27432"/>
          </a:xfrm>
          <a:prstGeom prst="rect">
            <a:avLst/>
          </a:prstGeom>
          <a:ln/>
        </p:spPr>
      </p:sp>
      <p:sp>
        <p:nvSpPr>
          <p:cNvPr id="9" name="Shape 7"/>
          <p:cNvSpPr/>
          <p:nvPr/>
        </p:nvSpPr>
        <p:spPr>
          <a:xfrm>
            <a:off x="3326816" y="22860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5352A"/>
          </a:solidFill>
          <a:ln w="1778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26816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67496" y="2962656"/>
            <a:ext cx="248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Head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79312" y="2555748"/>
            <a:ext cx="1918640" cy="27432"/>
          </a:xfrm>
          <a:prstGeom prst="rect">
            <a:avLst/>
          </a:prstGeom>
          <a:ln/>
        </p:spPr>
      </p:sp>
      <p:sp>
        <p:nvSpPr>
          <p:cNvPr id="13" name="Shape 11"/>
          <p:cNvSpPr/>
          <p:nvPr/>
        </p:nvSpPr>
        <p:spPr>
          <a:xfrm>
            <a:off x="5812384" y="22860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5352A"/>
          </a:solidFill>
          <a:ln w="1778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12384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53064" y="2962656"/>
            <a:ext cx="248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4879" y="2555748"/>
            <a:ext cx="1918640" cy="27432"/>
          </a:xfrm>
          <a:prstGeom prst="rect">
            <a:avLst/>
          </a:prstGeom>
          <a:ln/>
        </p:spPr>
      </p:sp>
      <p:sp>
        <p:nvSpPr>
          <p:cNvPr id="17" name="Shape 15"/>
          <p:cNvSpPr/>
          <p:nvPr/>
        </p:nvSpPr>
        <p:spPr>
          <a:xfrm>
            <a:off x="8297951" y="22860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3A1330"/>
          </a:solidFill>
          <a:ln w="17780">
            <a:solidFill>
              <a:srgbClr val="E021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7951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EE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38632" y="2962656"/>
            <a:ext cx="248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GM Operations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deciding now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783519" y="22860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D1A33"/>
          </a:solidFill>
          <a:ln w="17780">
            <a:solidFill>
              <a:srgbClr val="2A27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3519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E7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824199" y="2962656"/>
            <a:ext cx="248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Director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41248" y="4206240"/>
            <a:ext cx="3320186" cy="1417320"/>
          </a:xfrm>
          <a:prstGeom prst="roundRect">
            <a:avLst>
              <a:gd name="adj" fmla="val 5806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4224528"/>
            <a:ext cx="41148" cy="1380744"/>
          </a:xfrm>
          <a:prstGeom prst="rect">
            <a:avLst/>
          </a:prstGeom>
          <a:ln/>
        </p:spPr>
      </p:sp>
      <p:sp>
        <p:nvSpPr>
          <p:cNvPr id="25" name="Text 23"/>
          <p:cNvSpPr/>
          <p:nvPr/>
        </p:nvSpPr>
        <p:spPr>
          <a:xfrm>
            <a:off x="1060704" y="4352544"/>
            <a:ext cx="29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Strictly sequential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060704" y="4736592"/>
            <a:ext cx="293613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2 never sees the note until level 1 has signed. No parallel confusion, no skipped desks.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35754" y="4206240"/>
            <a:ext cx="3320186" cy="1417320"/>
          </a:xfrm>
          <a:prstGeom prst="roundRect">
            <a:avLst>
              <a:gd name="adj" fmla="val 5806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5754" y="4224528"/>
            <a:ext cx="41148" cy="1380744"/>
          </a:xfrm>
          <a:prstGeom prst="rect">
            <a:avLst/>
          </a:prstGeom>
          <a:ln/>
        </p:spPr>
      </p:sp>
      <p:sp>
        <p:nvSpPr>
          <p:cNvPr id="29" name="Text 27"/>
          <p:cNvSpPr/>
          <p:nvPr/>
        </p:nvSpPr>
        <p:spPr>
          <a:xfrm>
            <a:off x="4655210" y="4352544"/>
            <a:ext cx="29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from your inbox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655210" y="4736592"/>
            <a:ext cx="293613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Approvers get an email with secure approve and reject links — one click, no login needed.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30261" y="4206240"/>
            <a:ext cx="3320186" cy="1417320"/>
          </a:xfrm>
          <a:prstGeom prst="roundRect">
            <a:avLst>
              <a:gd name="adj" fmla="val 5806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30261" y="4224528"/>
            <a:ext cx="41148" cy="1380744"/>
          </a:xfrm>
          <a:prstGeom prst="rect">
            <a:avLst/>
          </a:prstGeom>
          <a:ln/>
        </p:spPr>
      </p:sp>
      <p:sp>
        <p:nvSpPr>
          <p:cNvPr id="33" name="Text 31"/>
          <p:cNvSpPr/>
          <p:nvPr/>
        </p:nvSpPr>
        <p:spPr>
          <a:xfrm>
            <a:off x="8249717" y="4352544"/>
            <a:ext cx="29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Locked at the last level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249717" y="4736592"/>
            <a:ext cx="293613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approval generates the PDF and mails it to the creator and every approver.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EE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r" indent="0" marL="0">
              <a:buNone/>
            </a:pPr>
            <a:r>
              <a:rPr lang="en-US" sz="1000" dirty="0">
                <a:solidFill>
                  <a:srgbClr val="7E7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DIFFERENCE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1042416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Sending it back isn’t starting over.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84708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9B2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approver can RETURN a note to its creator with exactly what needs fixing. The creator revises and resubmits — the note resumes from the level it was returned from. Every round stays on the record.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41248" y="2926080"/>
            <a:ext cx="10509199" cy="2880360"/>
          </a:xfrm>
          <a:prstGeom prst="roundRect">
            <a:avLst>
              <a:gd name="adj" fmla="val 2857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926080"/>
            <a:ext cx="10509199" cy="310896"/>
          </a:xfrm>
          <a:prstGeom prst="rect">
            <a:avLst/>
          </a:prstGeom>
          <a:solidFill>
            <a:srgbClr val="1A1230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" y="29260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3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41248" y="3236976"/>
            <a:ext cx="105091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3236976"/>
            <a:ext cx="2377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Sagar Patil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93008" y="3236976"/>
            <a:ext cx="2377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Initiator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53328" y="332384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3283F"/>
          </a:solidFill>
          <a:ln/>
        </p:spPr>
      </p:sp>
      <p:sp>
        <p:nvSpPr>
          <p:cNvPr id="12" name="Text 10"/>
          <p:cNvSpPr/>
          <p:nvPr/>
        </p:nvSpPr>
        <p:spPr>
          <a:xfrm>
            <a:off x="6053328" y="332384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A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Initiated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33488" y="3236976"/>
            <a:ext cx="3834079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Raised 18 Jul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1248" y="3721608"/>
            <a:ext cx="105091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721608"/>
            <a:ext cx="2377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Priya Nair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93008" y="3721608"/>
            <a:ext cx="2377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 — Section Head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53328" y="380847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5352A"/>
          </a:solidFill>
          <a:ln/>
        </p:spPr>
      </p:sp>
      <p:sp>
        <p:nvSpPr>
          <p:cNvPr id="18" name="Text 16"/>
          <p:cNvSpPr/>
          <p:nvPr/>
        </p:nvSpPr>
        <p:spPr>
          <a:xfrm>
            <a:off x="6053328" y="380847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Approved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33488" y="3721608"/>
            <a:ext cx="3834079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"Operationally justified."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1248" y="4206240"/>
            <a:ext cx="105091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206240"/>
            <a:ext cx="2377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Ravi Menon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493008" y="4206240"/>
            <a:ext cx="2377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 — Finance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53328" y="429310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3A2E12"/>
          </a:solidFill>
          <a:ln/>
        </p:spPr>
      </p:sp>
      <p:sp>
        <p:nvSpPr>
          <p:cNvPr id="24" name="Text 22"/>
          <p:cNvSpPr/>
          <p:nvPr/>
        </p:nvSpPr>
        <p:spPr>
          <a:xfrm>
            <a:off x="6053328" y="429310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Returned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33488" y="4206240"/>
            <a:ext cx="3834079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"Attach the vendor comparison."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41248" y="4690872"/>
            <a:ext cx="10509199" cy="310896"/>
          </a:xfrm>
          <a:prstGeom prst="rect">
            <a:avLst/>
          </a:prstGeom>
          <a:solidFill>
            <a:srgbClr val="1A1230"/>
          </a:solidFill>
          <a:ln/>
        </p:spPr>
      </p:sp>
      <p:sp>
        <p:nvSpPr>
          <p:cNvPr id="27" name="Text 25"/>
          <p:cNvSpPr/>
          <p:nvPr/>
        </p:nvSpPr>
        <p:spPr>
          <a:xfrm>
            <a:off x="1060704" y="469087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3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1248" y="5001768"/>
            <a:ext cx="105091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0704" y="5001768"/>
            <a:ext cx="2377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Ravi Menon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493008" y="5001768"/>
            <a:ext cx="2377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 — Finance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53328" y="508863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5352A"/>
          </a:solidFill>
          <a:ln/>
        </p:spPr>
      </p:sp>
      <p:sp>
        <p:nvSpPr>
          <p:cNvPr id="32" name="Text 30"/>
          <p:cNvSpPr/>
          <p:nvPr/>
        </p:nvSpPr>
        <p:spPr>
          <a:xfrm>
            <a:off x="6053328" y="508863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Approved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33488" y="5001768"/>
            <a:ext cx="3834079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"Numbers check out."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41248" y="5486400"/>
            <a:ext cx="105091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704" y="5486400"/>
            <a:ext cx="2377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Meera Shah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493008" y="5486400"/>
            <a:ext cx="2377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 — Director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053328" y="557326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5352A"/>
          </a:solidFill>
          <a:ln/>
        </p:spPr>
      </p:sp>
      <p:sp>
        <p:nvSpPr>
          <p:cNvPr id="38" name="Text 36"/>
          <p:cNvSpPr/>
          <p:nvPr/>
        </p:nvSpPr>
        <p:spPr>
          <a:xfrm>
            <a:off x="6053328" y="557326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Approved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33488" y="5486400"/>
            <a:ext cx="3834079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"Proceed."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41248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rejected note is terminal. A returned note is a conversation.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EE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r" indent="0" marL="0">
              <a:buNone/>
            </a:pPr>
            <a:r>
              <a:rPr lang="en-US" sz="1000" dirty="0">
                <a:solidFill>
                  <a:srgbClr val="7E7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1042416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app does.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41248" y="1965960"/>
            <a:ext cx="2448992" cy="1600200"/>
          </a:xfrm>
          <a:prstGeom prst="roundRect">
            <a:avLst>
              <a:gd name="adj" fmla="val 5143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84248"/>
            <a:ext cx="41148" cy="1563624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1060704" y="2112264"/>
            <a:ext cx="208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Per-note routing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60704" y="2496312"/>
            <a:ext cx="20649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the approvers for this note, or fall back to the standing hierarchy.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7984" y="1965960"/>
            <a:ext cx="2448992" cy="1600200"/>
          </a:xfrm>
          <a:prstGeom prst="roundRect">
            <a:avLst>
              <a:gd name="adj" fmla="val 5143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7984" y="1984248"/>
            <a:ext cx="41148" cy="1563624"/>
          </a:xfrm>
          <a:prstGeom prst="rect">
            <a:avLst/>
          </a:prstGeom>
          <a:ln/>
        </p:spPr>
      </p:sp>
      <p:sp>
        <p:nvSpPr>
          <p:cNvPr id="10" name="Text 8"/>
          <p:cNvSpPr/>
          <p:nvPr/>
        </p:nvSpPr>
        <p:spPr>
          <a:xfrm>
            <a:off x="3747440" y="2112264"/>
            <a:ext cx="208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Attachments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747440" y="2496312"/>
            <a:ext cx="20649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PDF, Word, Excel and images up to 20 MB each, ten per upload.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4720" y="1965960"/>
            <a:ext cx="2448992" cy="1600200"/>
          </a:xfrm>
          <a:prstGeom prst="roundRect">
            <a:avLst>
              <a:gd name="adj" fmla="val 5143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4720" y="1984248"/>
            <a:ext cx="41148" cy="1563624"/>
          </a:xfrm>
          <a:prstGeom prst="rect">
            <a:avLst/>
          </a:prstGeom>
          <a:ln/>
        </p:spPr>
      </p:sp>
      <p:sp>
        <p:nvSpPr>
          <p:cNvPr id="14" name="Text 12"/>
          <p:cNvSpPr/>
          <p:nvPr/>
        </p:nvSpPr>
        <p:spPr>
          <a:xfrm>
            <a:off x="6434176" y="2112264"/>
            <a:ext cx="208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PDF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34176" y="2496312"/>
            <a:ext cx="20649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approved note becomes a formatted record with the full hierarchy on 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01455" y="1965960"/>
            <a:ext cx="2448992" cy="1600200"/>
          </a:xfrm>
          <a:prstGeom prst="roundRect">
            <a:avLst>
              <a:gd name="adj" fmla="val 5143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01455" y="1984248"/>
            <a:ext cx="41148" cy="1563624"/>
          </a:xfrm>
          <a:prstGeom prst="rect">
            <a:avLst/>
          </a:prstGeom>
          <a:ln/>
        </p:spPr>
      </p:sp>
      <p:sp>
        <p:nvSpPr>
          <p:cNvPr id="18" name="Text 16"/>
          <p:cNvSpPr/>
          <p:nvPr/>
        </p:nvSpPr>
        <p:spPr>
          <a:xfrm>
            <a:off x="9120911" y="2112264"/>
            <a:ext cx="208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at every step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20911" y="2496312"/>
            <a:ext cx="20649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Submission, approval, return and rejection all notify the right people.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1248" y="3803904"/>
            <a:ext cx="2448992" cy="1600200"/>
          </a:xfrm>
          <a:prstGeom prst="roundRect">
            <a:avLst>
              <a:gd name="adj" fmla="val 5143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3822192"/>
            <a:ext cx="41148" cy="1563624"/>
          </a:xfrm>
          <a:prstGeom prst="rect">
            <a:avLst/>
          </a:prstGeom>
          <a:ln/>
        </p:spPr>
      </p:sp>
      <p:sp>
        <p:nvSpPr>
          <p:cNvPr id="22" name="Text 20"/>
          <p:cNvSpPr/>
          <p:nvPr/>
        </p:nvSpPr>
        <p:spPr>
          <a:xfrm>
            <a:off x="1060704" y="3950208"/>
            <a:ext cx="208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060704" y="4334256"/>
            <a:ext cx="20649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Counts by status; an admin switches between their notes and the whole company.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527984" y="3803904"/>
            <a:ext cx="2448992" cy="1600200"/>
          </a:xfrm>
          <a:prstGeom prst="roundRect">
            <a:avLst>
              <a:gd name="adj" fmla="val 5143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7984" y="3822192"/>
            <a:ext cx="41148" cy="1563624"/>
          </a:xfrm>
          <a:prstGeom prst="rect">
            <a:avLst/>
          </a:prstGeom>
          <a:ln/>
        </p:spPr>
      </p:sp>
      <p:sp>
        <p:nvSpPr>
          <p:cNvPr id="26" name="Text 24"/>
          <p:cNvSpPr/>
          <p:nvPr/>
        </p:nvSpPr>
        <p:spPr>
          <a:xfrm>
            <a:off x="3747440" y="3950208"/>
            <a:ext cx="208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Decisions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747440" y="4334256"/>
            <a:ext cx="20649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Everyone sees exactly what they personally approved or rejected, and when.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4720" y="3803904"/>
            <a:ext cx="2448992" cy="1600200"/>
          </a:xfrm>
          <a:prstGeom prst="roundRect">
            <a:avLst>
              <a:gd name="adj" fmla="val 5143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4720" y="3822192"/>
            <a:ext cx="41148" cy="1563624"/>
          </a:xfrm>
          <a:prstGeom prst="rect">
            <a:avLst/>
          </a:prstGeom>
          <a:ln/>
        </p:spPr>
      </p:sp>
      <p:sp>
        <p:nvSpPr>
          <p:cNvPr id="30" name="Text 28"/>
          <p:cNvSpPr/>
          <p:nvPr/>
        </p:nvSpPr>
        <p:spPr>
          <a:xfrm>
            <a:off x="6434176" y="3950208"/>
            <a:ext cx="208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434176" y="4334256"/>
            <a:ext cx="20649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 kinds of action recorded permanently, from login to final approval.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901455" y="3803904"/>
            <a:ext cx="2448992" cy="1600200"/>
          </a:xfrm>
          <a:prstGeom prst="roundRect">
            <a:avLst>
              <a:gd name="adj" fmla="val 5143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01455" y="3822192"/>
            <a:ext cx="41148" cy="1563624"/>
          </a:xfrm>
          <a:prstGeom prst="rect">
            <a:avLst/>
          </a:prstGeom>
          <a:ln/>
        </p:spPr>
      </p:sp>
      <p:sp>
        <p:nvSpPr>
          <p:cNvPr id="34" name="Text 32"/>
          <p:cNvSpPr/>
          <p:nvPr/>
        </p:nvSpPr>
        <p:spPr>
          <a:xfrm>
            <a:off x="9120911" y="3950208"/>
            <a:ext cx="208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 &amp; dark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120911" y="4334256"/>
            <a:ext cx="20649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Follows the device, with a manual switch that remembers your choice.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EE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r" indent="0" marL="0">
              <a:buNone/>
            </a:pPr>
            <a:r>
              <a:rPr lang="en-US" sz="1000" dirty="0">
                <a:solidFill>
                  <a:srgbClr val="7E7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IT’S WORTH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1042416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changes on day one.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41248" y="1874520"/>
            <a:ext cx="10509199" cy="3291840"/>
          </a:xfrm>
          <a:prstGeom prst="roundRect">
            <a:avLst>
              <a:gd name="adj" fmla="val 2500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74520"/>
            <a:ext cx="5254600" cy="457200"/>
          </a:xfrm>
          <a:prstGeom prst="rect">
            <a:avLst/>
          </a:prstGeom>
          <a:solidFill>
            <a:srgbClr val="2A1418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48" y="1874520"/>
            <a:ext cx="5254600" cy="457200"/>
          </a:xfrm>
          <a:prstGeom prst="rect">
            <a:avLst/>
          </a:prstGeom>
          <a:solidFill>
            <a:srgbClr val="132A22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" y="187452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6F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EMAIL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5304" y="187452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NFA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1248" y="2331720"/>
            <a:ext cx="105091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331720"/>
            <a:ext cx="488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"Where is my note?" — ask around.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15304" y="2331720"/>
            <a:ext cx="488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2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dashboard. It says which level it’s 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" y="2898648"/>
            <a:ext cx="105091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2898648"/>
            <a:ext cx="488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is a reply saying "ok".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15304" y="2898648"/>
            <a:ext cx="488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2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recorded decision, timestamped, with a mandatory reason.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1248" y="3465576"/>
            <a:ext cx="105091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3465576"/>
            <a:ext cx="488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trail is whatever survived an inbox.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15304" y="3465576"/>
            <a:ext cx="488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2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permanent trail nobody can edit, printed on the PDF.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1248" y="4032504"/>
            <a:ext cx="105091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4032504"/>
            <a:ext cx="488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rejection means retyping the note.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15304" y="4032504"/>
            <a:ext cx="488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2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it with a reason; the creator fixes and resumes.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41248" y="4599432"/>
            <a:ext cx="105091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4599432"/>
            <a:ext cx="488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Leavers keep access until IT gets to it.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15304" y="4599432"/>
            <a:ext cx="488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2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Deactivating a user cuts access on their very next click.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95848" y="1874520"/>
            <a:ext cx="0" cy="3291840"/>
          </a:xfrm>
          <a:prstGeom prst="line">
            <a:avLst/>
          </a:prstGeom>
          <a:noFill/>
          <a:ln w="12700">
            <a:solidFill>
              <a:srgbClr val="2A27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8064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compounding win is time: an approval that took days of chasing becomes minutes of clicking.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EE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r" indent="0" marL="0">
              <a:buNone/>
            </a:pPr>
            <a:r>
              <a:rPr lang="en-US" sz="1000" dirty="0">
                <a:solidFill>
                  <a:srgbClr val="7E7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1042416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to be believed later.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87452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9B2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approval record is only worth what it can prove months afterwards. The system is designed around that.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41248" y="2788920"/>
            <a:ext cx="3332378" cy="1417320"/>
          </a:xfrm>
          <a:prstGeom prst="roundRect">
            <a:avLst>
              <a:gd name="adj" fmla="val 5806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807208"/>
            <a:ext cx="41148" cy="138074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" y="2935224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Immediate revocation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60704" y="3319272"/>
            <a:ext cx="294833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request re-checks the account. Deactivate someone and they lose access on the next click.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29658" y="2788920"/>
            <a:ext cx="3332378" cy="1417320"/>
          </a:xfrm>
          <a:prstGeom prst="roundRect">
            <a:avLst>
              <a:gd name="adj" fmla="val 5806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9658" y="2807208"/>
            <a:ext cx="41148" cy="138074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649114" y="2935224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Scoped visibility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49114" y="3319272"/>
            <a:ext cx="294833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see a note only if you raised it or you're named on its route. Admins see everything.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18069" y="2788920"/>
            <a:ext cx="3332378" cy="1417320"/>
          </a:xfrm>
          <a:prstGeom prst="roundRect">
            <a:avLst>
              <a:gd name="adj" fmla="val 5806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8069" y="2807208"/>
            <a:ext cx="41148" cy="138074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8237525" y="2935224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Mandatory reasons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37525" y="3319272"/>
            <a:ext cx="294833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and reject both refuse a blank remark. No unexplained decisions in the record.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1248" y="4443984"/>
            <a:ext cx="3332378" cy="1417320"/>
          </a:xfrm>
          <a:prstGeom prst="roundRect">
            <a:avLst>
              <a:gd name="adj" fmla="val 5806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4462272"/>
            <a:ext cx="41148" cy="138074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1060704" y="4590288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 that expire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60704" y="4974336"/>
            <a:ext cx="294833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Sign-ins are token based and rotate; signing out revokes on the server, not just the browser.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29658" y="4443984"/>
            <a:ext cx="3332378" cy="1417320"/>
          </a:xfrm>
          <a:prstGeom prst="roundRect">
            <a:avLst>
              <a:gd name="adj" fmla="val 5806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29658" y="4462272"/>
            <a:ext cx="41148" cy="138074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4649114" y="4590288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decision per level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649114" y="4974336"/>
            <a:ext cx="294833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state change is transactional — two approvers clicking at once cannot both advance a note.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18069" y="4443984"/>
            <a:ext cx="3332378" cy="1417320"/>
          </a:xfrm>
          <a:prstGeom prst="roundRect">
            <a:avLst>
              <a:gd name="adj" fmla="val 5806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8069" y="4462272"/>
            <a:ext cx="41148" cy="138074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8237525" y="4590288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Permanent audit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37525" y="4974336"/>
            <a:ext cx="294833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Logins, submissions, approvals, returns and rejections are written to an append-only log.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EE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r" indent="0" marL="0">
              <a:buNone/>
            </a:pPr>
            <a:r>
              <a:rPr lang="en-US" sz="1000" dirty="0">
                <a:solidFill>
                  <a:srgbClr val="7E7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IT’S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1042416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codebase, every screen.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41248" y="1965960"/>
            <a:ext cx="10509199" cy="960120"/>
          </a:xfrm>
          <a:prstGeom prst="roundRect">
            <a:avLst>
              <a:gd name="adj" fmla="val 7619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6596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E7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61488" y="196596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B2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Flutter application serving desktop and mobile browsers — same code everywhere.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114178" y="2272284"/>
            <a:ext cx="980237" cy="347472"/>
          </a:xfrm>
          <a:prstGeom prst="roundRect">
            <a:avLst>
              <a:gd name="adj" fmla="val 15789"/>
            </a:avLst>
          </a:prstGeom>
          <a:solidFill>
            <a:srgbClr val="1D1A33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14178" y="2272284"/>
            <a:ext cx="98023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B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go_router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04681" y="2272284"/>
            <a:ext cx="899770" cy="347472"/>
          </a:xfrm>
          <a:prstGeom prst="roundRect">
            <a:avLst>
              <a:gd name="adj" fmla="val 15789"/>
            </a:avLst>
          </a:prstGeom>
          <a:solidFill>
            <a:srgbClr val="1D1A33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04681" y="2272284"/>
            <a:ext cx="89977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B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Riverpod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53782" y="2272284"/>
            <a:ext cx="1141171" cy="347472"/>
          </a:xfrm>
          <a:prstGeom prst="roundRect">
            <a:avLst>
              <a:gd name="adj" fmla="val 15789"/>
            </a:avLst>
          </a:prstGeom>
          <a:solidFill>
            <a:srgbClr val="1D1A33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53782" y="2272284"/>
            <a:ext cx="114117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B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Web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1248" y="3108960"/>
            <a:ext cx="10509199" cy="960120"/>
          </a:xfrm>
          <a:prstGeom prst="roundRect">
            <a:avLst>
              <a:gd name="adj" fmla="val 7619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10896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E7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61488" y="310896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B2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REST service owning the workflow rules: who may see a note, who may act, what a decision means.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114178" y="3415284"/>
            <a:ext cx="980237" cy="347472"/>
          </a:xfrm>
          <a:prstGeom prst="roundRect">
            <a:avLst>
              <a:gd name="adj" fmla="val 15789"/>
            </a:avLst>
          </a:prstGeom>
          <a:solidFill>
            <a:srgbClr val="1D1A33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14178" y="3415284"/>
            <a:ext cx="98023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B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Sequelize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85148" y="3415284"/>
            <a:ext cx="819302" cy="347472"/>
          </a:xfrm>
          <a:prstGeom prst="roundRect">
            <a:avLst>
              <a:gd name="adj" fmla="val 15789"/>
            </a:avLst>
          </a:prstGeom>
          <a:solidFill>
            <a:srgbClr val="1D1A33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5148" y="3415284"/>
            <a:ext cx="81930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B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56118" y="3415284"/>
            <a:ext cx="819302" cy="347472"/>
          </a:xfrm>
          <a:prstGeom prst="roundRect">
            <a:avLst>
              <a:gd name="adj" fmla="val 15789"/>
            </a:avLst>
          </a:prstGeom>
          <a:solidFill>
            <a:srgbClr val="1D1A33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6118" y="3415284"/>
            <a:ext cx="81930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B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41248" y="4251960"/>
            <a:ext cx="10509199" cy="960120"/>
          </a:xfrm>
          <a:prstGeom prst="roundRect">
            <a:avLst>
              <a:gd name="adj" fmla="val 7619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25196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E7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61488" y="425196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B2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Notes, approvers, decisions, attachments and the audit log — every state change in a transaction.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033711" y="4558284"/>
            <a:ext cx="1060704" cy="347472"/>
          </a:xfrm>
          <a:prstGeom prst="roundRect">
            <a:avLst>
              <a:gd name="adj" fmla="val 15789"/>
            </a:avLst>
          </a:prstGeom>
          <a:solidFill>
            <a:srgbClr val="1D1A33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33711" y="4558284"/>
            <a:ext cx="1060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B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41248" y="5394960"/>
            <a:ext cx="10509199" cy="960120"/>
          </a:xfrm>
          <a:prstGeom prst="roundRect">
            <a:avLst>
              <a:gd name="adj" fmla="val 7619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539496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E7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61488" y="539496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B2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generation on final approval, SMTP notification at every step, and file storage.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75113" y="5701284"/>
            <a:ext cx="819302" cy="347472"/>
          </a:xfrm>
          <a:prstGeom prst="roundRect">
            <a:avLst>
              <a:gd name="adj" fmla="val 15789"/>
            </a:avLst>
          </a:prstGeom>
          <a:solidFill>
            <a:srgbClr val="1D1A33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75113" y="5701284"/>
            <a:ext cx="81930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B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587484" y="5701284"/>
            <a:ext cx="577901" cy="347472"/>
          </a:xfrm>
          <a:prstGeom prst="roundRect">
            <a:avLst>
              <a:gd name="adj" fmla="val 15789"/>
            </a:avLst>
          </a:prstGeom>
          <a:solidFill>
            <a:srgbClr val="1D1A33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87484" y="5701284"/>
            <a:ext cx="57790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B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980322" y="5701284"/>
            <a:ext cx="497434" cy="347472"/>
          </a:xfrm>
          <a:prstGeom prst="roundRect">
            <a:avLst>
              <a:gd name="adj" fmla="val 15789"/>
            </a:avLst>
          </a:prstGeom>
          <a:solidFill>
            <a:srgbClr val="1D1A33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80322" y="5701284"/>
            <a:ext cx="49743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B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EE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r" indent="0" marL="0">
              <a:buNone/>
            </a:pPr>
            <a:r>
              <a:rPr lang="en-US" sz="1000" dirty="0">
                <a:solidFill>
                  <a:srgbClr val="7E7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1042416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shape of the system.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41248" y="1965960"/>
            <a:ext cx="2448992" cy="1691640"/>
          </a:xfrm>
          <a:prstGeom prst="roundRect">
            <a:avLst>
              <a:gd name="adj" fmla="val 4865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2148840"/>
            <a:ext cx="2083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42416" y="2898648"/>
            <a:ext cx="20649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endpoints across auth, notes, approvals, masters and admin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27984" y="1965960"/>
            <a:ext cx="2448992" cy="1691640"/>
          </a:xfrm>
          <a:prstGeom prst="roundRect">
            <a:avLst>
              <a:gd name="adj" fmla="val 4865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29152" y="2148840"/>
            <a:ext cx="2083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729152" y="2898648"/>
            <a:ext cx="20649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levels supported on a single note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4720" y="1965960"/>
            <a:ext cx="2448992" cy="1691640"/>
          </a:xfrm>
          <a:prstGeom prst="roundRect">
            <a:avLst>
              <a:gd name="adj" fmla="val 4865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5888" y="2148840"/>
            <a:ext cx="2083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15888" y="2898648"/>
            <a:ext cx="20649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 states — draft, pending, returned, approved, rejected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01455" y="1965960"/>
            <a:ext cx="2448992" cy="1691640"/>
          </a:xfrm>
          <a:prstGeom prst="roundRect">
            <a:avLst>
              <a:gd name="adj" fmla="val 4865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02623" y="2148840"/>
            <a:ext cx="2083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02623" y="2898648"/>
            <a:ext cx="20649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types written to the permanent audit log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" y="3931920"/>
            <a:ext cx="2448992" cy="1691640"/>
          </a:xfrm>
          <a:prstGeom prst="roundRect">
            <a:avLst>
              <a:gd name="adj" fmla="val 4865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4114800"/>
            <a:ext cx="2083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MB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042416" y="4864608"/>
            <a:ext cx="20649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attachment, ten files at a 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27984" y="3931920"/>
            <a:ext cx="2448992" cy="1691640"/>
          </a:xfrm>
          <a:prstGeom prst="roundRect">
            <a:avLst>
              <a:gd name="adj" fmla="val 4865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29152" y="4114800"/>
            <a:ext cx="2083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729152" y="4864608"/>
            <a:ext cx="20649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— admin and user — keeping permissions simple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4720" y="3931920"/>
            <a:ext cx="2448992" cy="1691640"/>
          </a:xfrm>
          <a:prstGeom prst="roundRect">
            <a:avLst>
              <a:gd name="adj" fmla="val 4865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5888" y="4114800"/>
            <a:ext cx="2083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415888" y="4864608"/>
            <a:ext cx="20649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tests guarding layout, workflow and theming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01455" y="3931920"/>
            <a:ext cx="2448992" cy="1691640"/>
          </a:xfrm>
          <a:prstGeom prst="roundRect">
            <a:avLst>
              <a:gd name="adj" fmla="val 4865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02623" y="4114800"/>
            <a:ext cx="2083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9102623" y="4864608"/>
            <a:ext cx="20649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Themes, light and dark, across every screen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EE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r" indent="0" marL="0">
              <a:buNone/>
            </a:pPr>
            <a:r>
              <a:rPr lang="en-US" sz="1000" dirty="0">
                <a:solidFill>
                  <a:srgbClr val="7E7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1042416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we’ll walk through.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41248" y="1920240"/>
            <a:ext cx="3344570" cy="1207008"/>
          </a:xfrm>
          <a:prstGeom prst="roundRect">
            <a:avLst>
              <a:gd name="adj" fmla="val 6061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206654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21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54480" y="2048256"/>
            <a:ext cx="247589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and land on the dashboard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54480" y="2423160"/>
            <a:ext cx="24758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Counts by status; an admin flips between their own notes and the whole company.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423562" y="1920240"/>
            <a:ext cx="3344570" cy="1207008"/>
          </a:xfrm>
          <a:prstGeom prst="roundRect">
            <a:avLst>
              <a:gd name="adj" fmla="val 6061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6442" y="206654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21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36794" y="2048256"/>
            <a:ext cx="247589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Raise a new note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136794" y="2423160"/>
            <a:ext cx="24758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Purpose, objective, brief, benefit and cost impact — then attach the supporting file.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005877" y="1920240"/>
            <a:ext cx="3344570" cy="1207008"/>
          </a:xfrm>
          <a:prstGeom prst="roundRect">
            <a:avLst>
              <a:gd name="adj" fmla="val 6061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8757" y="206654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21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19109" y="2048256"/>
            <a:ext cx="247589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the approval route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719109" y="2423160"/>
            <a:ext cx="24758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named approvers in order. The creator can't be their own approver.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41248" y="3310128"/>
            <a:ext cx="3344570" cy="1207008"/>
          </a:xfrm>
          <a:prstGeom prst="roundRect">
            <a:avLst>
              <a:gd name="adj" fmla="val 6061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4564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21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3438144"/>
            <a:ext cx="247589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Submit, and watch it route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554480" y="3813048"/>
            <a:ext cx="24758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note leaves drafts and appears in level one's pending queue.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423562" y="3310128"/>
            <a:ext cx="3344570" cy="1207008"/>
          </a:xfrm>
          <a:prstGeom prst="roundRect">
            <a:avLst>
              <a:gd name="adj" fmla="val 6061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6442" y="34564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21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36794" y="3438144"/>
            <a:ext cx="247589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as level one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36794" y="3813048"/>
            <a:ext cx="24758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as the approver, open Pending Approvals, approve with a remark.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8005877" y="3310128"/>
            <a:ext cx="3344570" cy="1207008"/>
          </a:xfrm>
          <a:prstGeom prst="roundRect">
            <a:avLst>
              <a:gd name="adj" fmla="val 6061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8757" y="34564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21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19109" y="3438144"/>
            <a:ext cx="247589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it for revision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719109" y="3813048"/>
            <a:ext cx="24758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two sends it back with a reason. It reappears with the creator.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841248" y="4700016"/>
            <a:ext cx="3344570" cy="1207008"/>
          </a:xfrm>
          <a:prstGeom prst="roundRect">
            <a:avLst>
              <a:gd name="adj" fmla="val 6061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4846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21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554480" y="4828032"/>
            <a:ext cx="247589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Revise and resubmit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554480" y="5202936"/>
            <a:ext cx="24758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the note; it resumes from where it was returned, and round two begins.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4423562" y="4700016"/>
            <a:ext cx="3344570" cy="1207008"/>
          </a:xfrm>
          <a:prstGeom prst="roundRect">
            <a:avLst>
              <a:gd name="adj" fmla="val 6061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06442" y="4846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21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36794" y="4828032"/>
            <a:ext cx="247589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to the end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136794" y="5202936"/>
            <a:ext cx="24758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approval generates the PDF and emails it to everyone involved.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8005877" y="4700016"/>
            <a:ext cx="3344570" cy="1207008"/>
          </a:xfrm>
          <a:prstGeom prst="roundRect">
            <a:avLst>
              <a:gd name="adj" fmla="val 6061"/>
            </a:avLst>
          </a:prstGeom>
          <a:solidFill>
            <a:srgbClr val="110F1E"/>
          </a:solidFill>
          <a:ln w="12700">
            <a:solidFill>
              <a:srgbClr val="2A27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88757" y="4846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21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719109" y="4828032"/>
            <a:ext cx="247589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record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719109" y="5202936"/>
            <a:ext cx="24758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approval hierarchy, both rounds, and the audit log — then switch the theme.</a:t>
            </a:r>
            <a:endParaRPr lang="en-US" sz="1030" dirty="0"/>
          </a:p>
        </p:txBody>
      </p:sp>
      <p:sp>
        <p:nvSpPr>
          <p:cNvPr id="40" name="Text 38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EE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pPr algn="r" indent="0" marL="0">
              <a:buNone/>
            </a:pPr>
            <a:r>
              <a:rPr lang="en-US" sz="1000" dirty="0">
                <a:solidFill>
                  <a:srgbClr val="7E7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5448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41248" y="2743200"/>
            <a:ext cx="822960" cy="54864"/>
          </a:xfrm>
          <a:prstGeom prst="rect">
            <a:avLst/>
          </a:prstGeom>
          <a:ln/>
        </p:spPr>
      </p:sp>
      <p:sp>
        <p:nvSpPr>
          <p:cNvPr id="4" name="Text 1"/>
          <p:cNvSpPr/>
          <p:nvPr/>
        </p:nvSpPr>
        <p:spPr>
          <a:xfrm>
            <a:off x="841248" y="29260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150" kern="0" dirty="0">
                <a:solidFill>
                  <a:srgbClr val="F2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 you can </a:t>
            </a:r>
            <a:pPr indent="0" marL="0">
              <a:buNone/>
            </a:pPr>
            <a:r>
              <a:rPr lang="en-US" sz="6000" b="1" spc="-15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prove.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41248" y="4343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2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Raised once, routed to the right people, decided with a reason, and kept forever.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41248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76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NFA — Note for Approval  ·  Vistar Logitek Pvt. Ltd.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EE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algn="r" indent="0" marL="0">
              <a:buNone/>
            </a:pPr>
            <a:r>
              <a:rPr lang="en-US" sz="1000" dirty="0">
                <a:solidFill>
                  <a:srgbClr val="7E7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Vistar Logitek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NFA — Note for Approval</dc:title>
  <dc:subject>PptxGenJS Presentation</dc:subject>
  <dc:creator>Vistar Logitek</dc:creator>
  <cp:lastModifiedBy>Vistar Logitek</cp:lastModifiedBy>
  <cp:revision>1</cp:revision>
  <dcterms:created xsi:type="dcterms:W3CDTF">2026-07-24T04:51:05Z</dcterms:created>
  <dcterms:modified xsi:type="dcterms:W3CDTF">2026-07-24T04:51:05Z</dcterms:modified>
</cp:coreProperties>
</file>