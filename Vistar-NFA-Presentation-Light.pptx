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6291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VISTAR LOGITEK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371600"/>
            <a:ext cx="3931920" cy="10616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2514600"/>
            <a:ext cx="822960" cy="54864"/>
          </a:xfrm>
          <a:prstGeom prst="rect">
            <a:avLst/>
          </a:prstGeom>
          <a:ln/>
        </p:spPr>
      </p:sp>
      <p:sp>
        <p:nvSpPr>
          <p:cNvPr id="4" name="Text 1"/>
          <p:cNvSpPr/>
          <p:nvPr/>
        </p:nvSpPr>
        <p:spPr>
          <a:xfrm>
            <a:off x="841248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-1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for </a:t>
            </a:r>
            <a:pPr indent="0" marL="0">
              <a:buNone/>
            </a:pPr>
            <a:r>
              <a:rPr lang="en-US" sz="6600" b="1" spc="-15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841248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30" kern="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approval, on the record.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41248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internal approval system  ·  Vistar Logitek Pvt. Ltd.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live in inboxes.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note for approval travels as an email thread, a printout and a chat message. Nothing owns it, so nothing can be answered about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788920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807208"/>
            <a:ext cx="41148" cy="13350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source of truth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3319272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version is whichever inbox you open. Two people quote two different numbers.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9658" y="2788920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9658" y="2807208"/>
            <a:ext cx="41148" cy="13350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64911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bottlenecks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9114" y="3319272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can say whose desk a note sits on, or how long it has been there.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8069" y="2788920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8069" y="2807208"/>
            <a:ext cx="41148" cy="13350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237525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audit trail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37525" y="3319272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"Who approved this, and on what basis?" has no reliable answer months later.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4398264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416552"/>
            <a:ext cx="41148" cy="13350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" y="454456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Rejections without reasons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60704" y="4928616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arrives as "please revise". The work restarts from zero.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29658" y="4398264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9658" y="4416552"/>
            <a:ext cx="41148" cy="13350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649114" y="454456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get lost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9114" y="4928616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forwarded mail is a single point of failure. One missed thread stalls a spend.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8069" y="4398264"/>
            <a:ext cx="333237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8069" y="4416552"/>
            <a:ext cx="41148" cy="13350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8237525" y="454456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record-keeping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37525" y="4928616"/>
            <a:ext cx="29483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Someone retypes the outcome into a document at the end, by hand.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note. One route. </a:t>
            </a:r>
            <a:pPr indent="0" marL="0">
              <a:buNone/>
            </a:pPr>
            <a:r>
              <a:rPr lang="en-US" sz="3400" b="1" spc="-5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record.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NFA is a web app where a note is raised once, routed through named approvers in order, decided with a reason on the record, and archived as a PDF with a complete trail.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926080"/>
            <a:ext cx="332018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944368"/>
            <a:ext cx="41148" cy="1700784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1060704" y="307238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3456432"/>
            <a:ext cx="29361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Purpose, objective, brief, benefit and cost impact — plus supporting files. The note gets a permanent number.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5754" y="2926080"/>
            <a:ext cx="332018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5754" y="2944368"/>
            <a:ext cx="41148" cy="1700784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4655210" y="307238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55210" y="3456432"/>
            <a:ext cx="29361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exact people who must approve, in the order they must approve. Up to eight levels per note.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30261" y="2926080"/>
            <a:ext cx="332018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30261" y="2944368"/>
            <a:ext cx="41148" cy="1700784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249717" y="307238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49717" y="3456432"/>
            <a:ext cx="29361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approver approves, rejects, or returns it for revision — always with a mandatory remark.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ever decided anonymously, and nothing is decided twice.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note walks its own chain.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08176" y="2555748"/>
            <a:ext cx="1918640" cy="27432"/>
          </a:xfrm>
          <a:prstGeom prst="rect">
            <a:avLst/>
          </a:prstGeom>
          <a:ln/>
        </p:spPr>
      </p:sp>
      <p:sp>
        <p:nvSpPr>
          <p:cNvPr id="5" name="Shape 3"/>
          <p:cNvSpPr/>
          <p:nvPr/>
        </p:nvSpPr>
        <p:spPr>
          <a:xfrm>
            <a:off x="841248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4F5EC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118072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93744" y="2555748"/>
            <a:ext cx="1918640" cy="27432"/>
          </a:xfrm>
          <a:prstGeom prst="rect">
            <a:avLst/>
          </a:prstGeom>
          <a:ln/>
        </p:spPr>
      </p:sp>
      <p:sp>
        <p:nvSpPr>
          <p:cNvPr id="9" name="Shape 7"/>
          <p:cNvSpPr/>
          <p:nvPr/>
        </p:nvSpPr>
        <p:spPr>
          <a:xfrm>
            <a:off x="3326816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4F5EC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6816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67496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Head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79312" y="2555748"/>
            <a:ext cx="1918640" cy="27432"/>
          </a:xfrm>
          <a:prstGeom prst="rect">
            <a:avLst/>
          </a:prstGeom>
          <a:ln/>
        </p:spPr>
      </p:sp>
      <p:sp>
        <p:nvSpPr>
          <p:cNvPr id="13" name="Shape 11"/>
          <p:cNvSpPr/>
          <p:nvPr/>
        </p:nvSpPr>
        <p:spPr>
          <a:xfrm>
            <a:off x="5812384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4F5EC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2384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3064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4879" y="2555748"/>
            <a:ext cx="1918640" cy="27432"/>
          </a:xfrm>
          <a:prstGeom prst="rect">
            <a:avLst/>
          </a:prstGeom>
          <a:ln/>
        </p:spPr>
      </p:sp>
      <p:sp>
        <p:nvSpPr>
          <p:cNvPr id="17" name="Shape 15"/>
          <p:cNvSpPr/>
          <p:nvPr/>
        </p:nvSpPr>
        <p:spPr>
          <a:xfrm>
            <a:off x="8297951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BE9F2"/>
          </a:solidFill>
          <a:ln w="17780">
            <a:solidFill>
              <a:srgbClr val="E021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7951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38632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 Operations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deciding now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783519" y="2286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CE9F5"/>
          </a:solidFill>
          <a:ln w="17780">
            <a:solidFill>
              <a:srgbClr val="E2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3519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24199" y="2962656"/>
            <a:ext cx="248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" y="4206240"/>
            <a:ext cx="332018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224528"/>
            <a:ext cx="41148" cy="1380744"/>
          </a:xfrm>
          <a:prstGeom prst="rect">
            <a:avLst/>
          </a:prstGeom>
          <a:ln/>
        </p:spPr>
      </p:sp>
      <p:sp>
        <p:nvSpPr>
          <p:cNvPr id="25" name="Text 23"/>
          <p:cNvSpPr/>
          <p:nvPr/>
        </p:nvSpPr>
        <p:spPr>
          <a:xfrm>
            <a:off x="1060704" y="435254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Strictly sequential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60704" y="4736592"/>
            <a:ext cx="29361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2 never sees the note until level 1 has signed. No parallel confusion, no skipped desks.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35754" y="4206240"/>
            <a:ext cx="332018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5754" y="4224528"/>
            <a:ext cx="41148" cy="1380744"/>
          </a:xfrm>
          <a:prstGeom prst="rect">
            <a:avLst/>
          </a:prstGeom>
          <a:ln/>
        </p:spPr>
      </p:sp>
      <p:sp>
        <p:nvSpPr>
          <p:cNvPr id="29" name="Text 27"/>
          <p:cNvSpPr/>
          <p:nvPr/>
        </p:nvSpPr>
        <p:spPr>
          <a:xfrm>
            <a:off x="4655210" y="435254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from your inbox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55210" y="4736592"/>
            <a:ext cx="29361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Approvers get an email with secure approve and reject links — one click, no login needed.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30261" y="4206240"/>
            <a:ext cx="332018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0261" y="4224528"/>
            <a:ext cx="41148" cy="1380744"/>
          </a:xfrm>
          <a:prstGeom prst="rect">
            <a:avLst/>
          </a:prstGeom>
          <a:ln/>
        </p:spPr>
      </p:sp>
      <p:sp>
        <p:nvSpPr>
          <p:cNvPr id="33" name="Text 31"/>
          <p:cNvSpPr/>
          <p:nvPr/>
        </p:nvSpPr>
        <p:spPr>
          <a:xfrm>
            <a:off x="8249717" y="4352544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at the last level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49717" y="4736592"/>
            <a:ext cx="293613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approval generates the PDF and mails it to the creator and every approver.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it back isn’t starting over.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4708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approver can RETURN a note to its creator with exactly what needs fixing. The creator revises and resubmits — the note resumes from the level it was returned from. Every round stays on the record.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926080"/>
            <a:ext cx="10509199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926080"/>
            <a:ext cx="10509199" cy="310896"/>
          </a:xfrm>
          <a:prstGeom prst="rect">
            <a:avLst/>
          </a:prstGeom>
          <a:solidFill>
            <a:srgbClr val="F0E7FA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9260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1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" y="3236976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3236976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Sagar Patil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93008" y="3236976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53328" y="332384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5EDFC"/>
          </a:solidFill>
          <a:ln/>
        </p:spPr>
      </p:sp>
      <p:sp>
        <p:nvSpPr>
          <p:cNvPr id="12" name="Text 10"/>
          <p:cNvSpPr/>
          <p:nvPr/>
        </p:nvSpPr>
        <p:spPr>
          <a:xfrm>
            <a:off x="6053328" y="332384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Initiated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33488" y="3236976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Raised 18 Jul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3721608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2160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Nair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93008" y="372160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 — Section Head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380847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</p:sp>
      <p:sp>
        <p:nvSpPr>
          <p:cNvPr id="18" name="Text 16"/>
          <p:cNvSpPr/>
          <p:nvPr/>
        </p:nvSpPr>
        <p:spPr>
          <a:xfrm>
            <a:off x="6053328" y="38084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Approved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33488" y="3721608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"Operationally justified."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4206240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20624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Ravi Menon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93008" y="420624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 — Finance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53328" y="42931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BEEDD"/>
          </a:solidFill>
          <a:ln/>
        </p:spPr>
      </p:sp>
      <p:sp>
        <p:nvSpPr>
          <p:cNvPr id="24" name="Text 22"/>
          <p:cNvSpPr/>
          <p:nvPr/>
        </p:nvSpPr>
        <p:spPr>
          <a:xfrm>
            <a:off x="6053328" y="42931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Returned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33488" y="4206240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"Attach the vendor comparison."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" y="4690872"/>
            <a:ext cx="10509199" cy="310896"/>
          </a:xfrm>
          <a:prstGeom prst="rect">
            <a:avLst/>
          </a:prstGeom>
          <a:solidFill>
            <a:srgbClr val="F0E7FA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704" y="46908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1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" y="5001768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500176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Ravi Menon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93008" y="5001768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 — Finance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53328" y="508863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508863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Approved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33488" y="5001768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"Numbers check out."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1248" y="5486400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548640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Meera Shah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493008" y="548640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 — Director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53328" y="55732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</p:sp>
      <p:sp>
        <p:nvSpPr>
          <p:cNvPr id="38" name="Text 36"/>
          <p:cNvSpPr/>
          <p:nvPr/>
        </p:nvSpPr>
        <p:spPr>
          <a:xfrm>
            <a:off x="6053328" y="557326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Approved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33488" y="5486400"/>
            <a:ext cx="383407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"Proceed."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rejected note is terminal. A returned note is a conversation.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 does.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84248"/>
            <a:ext cx="41148" cy="1563624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1060704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Per-note routing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60704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approvers for this note, or fall back to the standing hierarchy.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7984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7984" y="1984248"/>
            <a:ext cx="41148" cy="1563624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3747440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47440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Word, Excel and images up to 20 MB each, ten per upload.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4720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4720" y="1984248"/>
            <a:ext cx="41148" cy="1563624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6434176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PDF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4176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approved note becomes a formatted record with the full hierarchy on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01455" y="1965960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01455" y="1984248"/>
            <a:ext cx="41148" cy="1563624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9120911" y="2112264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at every step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20911" y="2496312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Submission, approval, return and rejection all notify the right people.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822192"/>
            <a:ext cx="41148" cy="1563624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1060704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60704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by status; an admin switches between their notes and the whole company.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27984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7984" y="3822192"/>
            <a:ext cx="41148" cy="1563624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3747440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Decisions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747440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sees exactly what they personally approved or rejected, and when.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4720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4720" y="3822192"/>
            <a:ext cx="41148" cy="1563624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6434176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34176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kinds of action recorded permanently, from login to final approval.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01455" y="3803904"/>
            <a:ext cx="24489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01455" y="3822192"/>
            <a:ext cx="41148" cy="1563624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9120911" y="3950208"/>
            <a:ext cx="2083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 &amp; dark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120911" y="4334256"/>
            <a:ext cx="20649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the device, with a manual switch that remembers your choice.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IT’S WORTH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on day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874520"/>
            <a:ext cx="10509199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74520"/>
            <a:ext cx="5254600" cy="457200"/>
          </a:xfrm>
          <a:prstGeom prst="rect">
            <a:avLst/>
          </a:prstGeom>
          <a:solidFill>
            <a:srgbClr val="FCE9E9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1874520"/>
            <a:ext cx="5254600" cy="457200"/>
          </a:xfrm>
          <a:prstGeom prst="rect">
            <a:avLst/>
          </a:prstGeom>
          <a:solidFill>
            <a:srgbClr val="E4F5EC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187452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EMAIL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5304" y="1874520"/>
            <a:ext cx="488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NFA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331720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31720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"Where is my note?" — ask around.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15304" y="2331720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dashboard. It says which level it’s 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2898648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898648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is a reply saying "ok".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15304" y="2898648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recorded decision, timestamped, with a mandatory reason.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3465576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465576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trail is whatever survived an inbox.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5304" y="3465576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permanent trail nobody can edit, printed on the PDF.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4032504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032504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rejection means retyping the note.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15304" y="4032504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it with a reason; the creator fixes and resumes.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1248" y="4599432"/>
            <a:ext cx="10509199" cy="0"/>
          </a:xfrm>
          <a:prstGeom prst="line">
            <a:avLst/>
          </a:prstGeom>
          <a:noFill/>
          <a:ln w="9525">
            <a:solidFill>
              <a:srgbClr val="E2DE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599432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Leavers keep access until IT gets to it.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15304" y="4599432"/>
            <a:ext cx="488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Deactivating a user cuts access on their very next click.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95848" y="1874520"/>
            <a:ext cx="0" cy="3291840"/>
          </a:xfrm>
          <a:prstGeom prst="line">
            <a:avLst/>
          </a:prstGeom>
          <a:noFill/>
          <a:ln w="12700">
            <a:solidFill>
              <a:srgbClr val="E2D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806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compounding win is time: an approval that took days of chasing becomes minutes of clicking.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be believed later.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approval record is only worth what it can prove months afterwards. The system is designed around that.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41248" y="2788920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807208"/>
            <a:ext cx="41148" cy="1380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revocation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3319272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re-checks the account. Deactivate someone and they lose access on the next click.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9658" y="2788920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9658" y="2807208"/>
            <a:ext cx="41148" cy="1380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649114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visibility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9114" y="3319272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see a note only if you raised it or you're named on its route. Admins see everything.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8069" y="2788920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8069" y="2807208"/>
            <a:ext cx="41148" cy="1380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237525" y="2935224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reasons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37525" y="3319272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and reject both refuse a blank remark. No unexplained decisions in the record.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4443984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462272"/>
            <a:ext cx="41148" cy="1380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704" y="459028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that expire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60704" y="4974336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Sign-ins are token based and rotate; signing out revokes on the server, not just the browser.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29658" y="4443984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9658" y="4462272"/>
            <a:ext cx="41148" cy="1380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649114" y="459028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decision per level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9114" y="4974336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state change is transactional — two approvers clicking at once cannot both advance a note.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8069" y="4443984"/>
            <a:ext cx="333237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8069" y="4462272"/>
            <a:ext cx="41148" cy="1380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237525" y="4590288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Permanent audit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37525" y="4974336"/>
            <a:ext cx="294833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Logins, submissions, approvals, returns and rejections are written to an append-only log.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IT’S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codebase, every screen.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61488" y="1965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Flutter application serving desktop and mobile browsers — same code everywhere.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114178" y="2272284"/>
            <a:ext cx="980237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14178" y="2272284"/>
            <a:ext cx="98023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go_router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04681" y="2272284"/>
            <a:ext cx="899770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04681" y="2272284"/>
            <a:ext cx="89977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Riverpod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53782" y="2272284"/>
            <a:ext cx="1141171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3782" y="2272284"/>
            <a:ext cx="114117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Web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3108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108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61488" y="3108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REST service owning the workflow rules: who may see a note, who may act, what a decision means.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114178" y="3415284"/>
            <a:ext cx="980237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14178" y="3415284"/>
            <a:ext cx="98023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Sequelize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5148" y="3415284"/>
            <a:ext cx="819302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5148" y="3415284"/>
            <a:ext cx="8193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56118" y="3415284"/>
            <a:ext cx="819302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6118" y="3415284"/>
            <a:ext cx="8193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" y="4251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251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61488" y="4251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Notes, approvers, decisions, attachments and the audit log — every state change in a transaction.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033711" y="4558284"/>
            <a:ext cx="1060704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33711" y="4558284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1248" y="5394960"/>
            <a:ext cx="10509199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394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61488" y="539496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generation on final approval, SMTP notification at every step, and file storage.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75113" y="5701284"/>
            <a:ext cx="819302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75113" y="5701284"/>
            <a:ext cx="8193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587484" y="5701284"/>
            <a:ext cx="577901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7484" y="5701284"/>
            <a:ext cx="57790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80322" y="5701284"/>
            <a:ext cx="497434" cy="347472"/>
          </a:xfrm>
          <a:prstGeom prst="roundRect">
            <a:avLst>
              <a:gd name="adj" fmla="val 15789"/>
            </a:avLst>
          </a:prstGeom>
          <a:solidFill>
            <a:srgbClr val="ECE9F5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80322" y="5701284"/>
            <a:ext cx="4974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5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shape of the system.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42416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 across auth, notes, approvals, masters and 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7984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9152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29152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levels supported on a single note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4720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15888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states — draft, pending, returned, approved, rejected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01455" y="196596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2623" y="214884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02623" y="289864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types written to the permanent audit 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MB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042416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attachment, ten files at a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7984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9152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729152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— admin and user — keeping permissions simple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4720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5888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415888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guarding layout, workflow and theming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01455" y="3931920"/>
            <a:ext cx="24489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2623" y="4114800"/>
            <a:ext cx="2083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9102623" y="4864608"/>
            <a:ext cx="20649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Themes, light and dark, across every screen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41248" y="1042416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we’ll walk through.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1920240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0665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2048256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and land on the 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by status; an admin flips between their own notes and the whole company.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23562" y="1920240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6442" y="20665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36794" y="2048256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a new note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36794" y="2423160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Purpose, objective, brief, benefit and cost impact — then attach the supporting file.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05877" y="1920240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8757" y="20665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19109" y="2048256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approval route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19109" y="2423160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named approvers in order. The creator can't be their own approver.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41248" y="3310128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456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438144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Submit, and watch it route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54480" y="3813048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note leaves drafts and appears in level one's pending queue.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423562" y="3310128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6442" y="3456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36794" y="3438144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as level one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36794" y="3813048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as the approver, open Pending Approvals, approve with a remark.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005877" y="3310128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8757" y="3456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19109" y="3438144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it for revision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19109" y="3813048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two sends it back with a reason. It reappears with the creator.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41248" y="4700016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846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4828032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Revise and resubmit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554480" y="5202936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the note; it resumes from where it was returned, and round two begins.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423562" y="4700016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6442" y="4846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6794" y="4828032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to the end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36794" y="5202936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approval generates the PDF and emails it to everyone involved.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005877" y="4700016"/>
            <a:ext cx="334457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DE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88757" y="4846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21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19109" y="4828032"/>
            <a:ext cx="247589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record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719109" y="5202936"/>
            <a:ext cx="247589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approval hierarchy, both rounds, and the audit log — then switch the theme.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5448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2743200"/>
            <a:ext cx="822960" cy="54864"/>
          </a:xfrm>
          <a:prstGeom prst="rect">
            <a:avLst/>
          </a:prstGeom>
          <a:ln/>
        </p:spPr>
      </p:sp>
      <p:sp>
        <p:nvSpPr>
          <p:cNvPr id="4" name="Text 1"/>
          <p:cNvSpPr/>
          <p:nvPr/>
        </p:nvSpPr>
        <p:spPr>
          <a:xfrm>
            <a:off x="841248" y="29260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50" kern="0" dirty="0">
                <a:solidFill>
                  <a:srgbClr val="1A17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you can </a:t>
            </a:r>
            <a:pPr indent="0" marL="0">
              <a:buNone/>
            </a:pPr>
            <a:r>
              <a:rPr lang="en-US" sz="6000" b="1" spc="-150" kern="0" dirty="0">
                <a:solidFill>
                  <a:srgbClr val="E021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41248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56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Raised once, routed to the right people, decided with a reason, and kept forever.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1248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NFA — Note for Approval  ·  Vistar Logitek Pvt. Ltd.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997135" y="6272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6E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Vistar Logitek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NFA — Note for Approval</dc:title>
  <dc:subject>PptxGenJS Presentation</dc:subject>
  <dc:creator>Vistar Logitek</dc:creator>
  <cp:lastModifiedBy>Vistar Logitek</cp:lastModifiedBy>
  <cp:revision>1</cp:revision>
  <dcterms:created xsi:type="dcterms:W3CDTF">2026-07-24T04:58:23Z</dcterms:created>
  <dcterms:modified xsi:type="dcterms:W3CDTF">2026-07-24T04:58:23Z</dcterms:modified>
</cp:coreProperties>
</file>